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62" r:id="rId4"/>
    <p:sldId id="261" r:id="rId5"/>
    <p:sldId id="314" r:id="rId6"/>
    <p:sldId id="318" r:id="rId7"/>
    <p:sldId id="263" r:id="rId8"/>
    <p:sldId id="315" r:id="rId9"/>
    <p:sldId id="319" r:id="rId10"/>
    <p:sldId id="316" r:id="rId11"/>
    <p:sldId id="324" r:id="rId12"/>
    <p:sldId id="321" r:id="rId13"/>
    <p:sldId id="317" r:id="rId14"/>
    <p:sldId id="323" r:id="rId15"/>
    <p:sldId id="269" r:id="rId1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C5255A-EC07-22D7-D893-4597E2E07AB8}" v="2" dt="2025-04-23T03:27:35.078"/>
    <p1510:client id="{E39953B9-8BB3-8185-9248-3F85EEA44FC2}" v="1" dt="2025-04-23T07:17:33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8964488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/>
              <a:t> Free PPT _ Click to add title</a:t>
            </a:r>
            <a:endParaRPr lang="ko-KR" alt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62344" y="1131590"/>
            <a:ext cx="8330135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572688" y="1808261"/>
            <a:ext cx="8330135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03648" y="0"/>
            <a:ext cx="7740352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/>
              <a:t>Free PPT _ Click to add title</a:t>
            </a:r>
            <a:endParaRPr lang="ko-KR" alt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81246" y="987574"/>
            <a:ext cx="7111234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791590" y="1664245"/>
            <a:ext cx="7111234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37D59-5EDB-4C39-B697-625748F703B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610" y="1513116"/>
            <a:ext cx="7269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LAB:</a:t>
            </a:r>
            <a:r>
              <a:rPr lang="en-US" altLang="ko-KR" sz="16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041  – WORKING WITH USE CASE DIAGRAM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254608" y="342404"/>
            <a:ext cx="849385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b="1">
                <a:solidFill>
                  <a:schemeClr val="tx2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CSC577</a:t>
            </a:r>
          </a:p>
          <a:p>
            <a:r>
              <a:rPr lang="en-US" altLang="ko-KR" sz="2400">
                <a:solidFill>
                  <a:schemeClr val="tx2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SOFTWARE ENGINEERING: THEORIES AND PRINCIPLES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083918"/>
            <a:ext cx="2122880" cy="91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cap="all"/>
              <a:t>WHERE WERE WE?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899592" y="123478"/>
            <a:ext cx="145031" cy="353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GB"/>
          </a:p>
        </p:txBody>
      </p:sp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7664" y="987574"/>
            <a:ext cx="7211143" cy="3639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8460432" y="2235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2</a:t>
            </a:fld>
            <a:r>
              <a:rPr lang="en-MY" sz="1400" b="1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76469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cap="all"/>
              <a:t>FUNCTIONAL REQUIREMENTS    &amp; USE CASES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81246" y="1059582"/>
            <a:ext cx="7111234" cy="4104456"/>
          </a:xfrm>
        </p:spPr>
        <p:txBody>
          <a:bodyPr anchor="t" anchorCtr="0"/>
          <a:lstStyle/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2400" b="1"/>
              <a:t>Functional</a:t>
            </a:r>
            <a:r>
              <a:rPr lang="en-US" altLang="ko-KR" sz="2400"/>
              <a:t> </a:t>
            </a:r>
            <a:r>
              <a:rPr lang="en-US" altLang="ko-KR" sz="2400" b="1"/>
              <a:t>requirements</a:t>
            </a:r>
            <a:r>
              <a:rPr lang="en-US" altLang="ko-KR" sz="2400"/>
              <a:t> capture the intended behavior of the system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2400"/>
              <a:t>This behavior can be expressed as </a:t>
            </a:r>
            <a:r>
              <a:rPr lang="en-US" altLang="ko-KR" sz="2400" u="sng"/>
              <a:t>services</a:t>
            </a:r>
            <a:r>
              <a:rPr lang="en-US" altLang="ko-KR" sz="2400"/>
              <a:t>, </a:t>
            </a:r>
            <a:r>
              <a:rPr lang="en-US" altLang="ko-KR" sz="2400" u="sng"/>
              <a:t>tasks</a:t>
            </a:r>
            <a:r>
              <a:rPr lang="en-US" altLang="ko-KR" sz="2400"/>
              <a:t> or </a:t>
            </a:r>
            <a:r>
              <a:rPr lang="en-US" altLang="ko-KR" sz="2400" u="sng"/>
              <a:t>functions</a:t>
            </a:r>
            <a:r>
              <a:rPr lang="en-US" altLang="ko-KR" sz="2400"/>
              <a:t> of the system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2400"/>
              <a:t>Use case is a model of these </a:t>
            </a:r>
            <a:r>
              <a:rPr lang="en-US" altLang="ko-KR" sz="2400" b="1"/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0432" y="2235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3</a:t>
            </a:fld>
            <a:r>
              <a:rPr lang="en-MY" sz="1400" b="1"/>
              <a:t>/14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8024" y="2910849"/>
            <a:ext cx="4179480" cy="2109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1218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cap="all"/>
              <a:t>USE CASE DIAGRAM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81246" y="1059582"/>
            <a:ext cx="7111234" cy="4104456"/>
          </a:xfrm>
        </p:spPr>
        <p:txBody>
          <a:bodyPr anchor="t" anchorCtr="0"/>
          <a:lstStyle/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2400"/>
              <a:t>A model that describes a system’s                      </a:t>
            </a:r>
            <a:r>
              <a:rPr lang="en-US" altLang="ko-KR" sz="2400" b="1"/>
              <a:t>functional requirements </a:t>
            </a:r>
            <a:r>
              <a:rPr lang="en-US" altLang="ko-KR" sz="2400"/>
              <a:t>in terms of                                  </a:t>
            </a:r>
            <a:r>
              <a:rPr lang="en-US" altLang="ko-KR" sz="2400" u="sng"/>
              <a:t>use cases 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2400"/>
              <a:t>A model that describe the                                   interactions between the users                                  (actors) &amp; the system itself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2400"/>
              <a:t>Simply… think it is main functions                     of a system performs for users – “usage cases” of using the system</a:t>
            </a:r>
          </a:p>
        </p:txBody>
      </p: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6658272" y="1237581"/>
            <a:ext cx="2090192" cy="2414289"/>
            <a:chOff x="5257800" y="1447800"/>
            <a:chExt cx="3505200" cy="4419600"/>
          </a:xfrm>
        </p:grpSpPr>
        <p:pic>
          <p:nvPicPr>
            <p:cNvPr id="6" name="Picture 10" descr="uml06b.png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57800" y="1600200"/>
              <a:ext cx="3254375" cy="403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Rectangle 6"/>
            <p:cNvSpPr/>
            <p:nvPr/>
          </p:nvSpPr>
          <p:spPr>
            <a:xfrm>
              <a:off x="6629400" y="1447800"/>
              <a:ext cx="2133600" cy="4419600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460432" y="2235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4</a:t>
            </a:fld>
            <a:r>
              <a:rPr lang="en-MY" sz="1400" b="1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601376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03648" y="391140"/>
            <a:ext cx="7740352" cy="884466"/>
          </a:xfrm>
        </p:spPr>
        <p:txBody>
          <a:bodyPr/>
          <a:lstStyle/>
          <a:p>
            <a:r>
              <a:rPr lang="en-US" altLang="ko-KR" cap="all"/>
              <a:t>USE CASE DIAGRAM &amp;       SYSTEM DOCUMENTATION</a:t>
            </a:r>
            <a:br>
              <a:rPr lang="en-US" altLang="ko-KR" cap="all"/>
            </a:br>
            <a:endParaRPr lang="en-US" altLang="ko-KR" cap="all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81246" y="1131590"/>
            <a:ext cx="7111234" cy="4104456"/>
          </a:xfrm>
        </p:spPr>
        <p:txBody>
          <a:bodyPr anchor="t" anchorCtr="0"/>
          <a:lstStyle/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2400"/>
              <a:t>Use case helps to model system (functional) requirements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2400"/>
              <a:t>Easy for users to understand</a:t>
            </a:r>
          </a:p>
        </p:txBody>
      </p:sp>
      <p:pic>
        <p:nvPicPr>
          <p:cNvPr id="4" name="Picture 4" descr="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7643" y="2283718"/>
            <a:ext cx="5416765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460432" y="2235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5</a:t>
            </a:fld>
            <a:r>
              <a:rPr lang="en-MY" sz="1400" b="1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392290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cap="all"/>
              <a:t>USE CASE DIAGRAM ELEMENTS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203598"/>
            <a:ext cx="6590115" cy="37028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60432" y="2235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6</a:t>
            </a:fld>
            <a:r>
              <a:rPr lang="en-MY" sz="1400" b="1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866060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03648" y="391140"/>
            <a:ext cx="7740352" cy="884466"/>
          </a:xfrm>
        </p:spPr>
        <p:txBody>
          <a:bodyPr/>
          <a:lstStyle/>
          <a:p>
            <a:r>
              <a:rPr lang="en-US" altLang="ko-KR" cap="all"/>
              <a:t>USE CASE DIAGRAM     ELEMENTS: ACTOR</a:t>
            </a:r>
            <a:br>
              <a:rPr lang="en-US" altLang="ko-KR" cap="all"/>
            </a:br>
            <a:endParaRPr lang="en-US" altLang="ko-KR" cap="all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81246" y="1131590"/>
            <a:ext cx="7111234" cy="4104456"/>
          </a:xfrm>
        </p:spPr>
        <p:txBody>
          <a:bodyPr anchor="t" anchorCtr="0"/>
          <a:lstStyle/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Actor is someone/something interacting with use        case (system function). Named by noun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Similar to the concept of user, but a user                                  can play different roles; (example: a                                                 professor can be instructor and researcher                          – plays 2 roles with two systems)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Actor triggers use case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Actor has responsibility toward the system                (inputs), and Actor have expectations from                      the system (outputs)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0432" y="2235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7</a:t>
            </a:fld>
            <a:r>
              <a:rPr lang="en-MY" sz="1400" b="1"/>
              <a:t>/14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1275606"/>
            <a:ext cx="136815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59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03648" y="391140"/>
            <a:ext cx="7740352" cy="884466"/>
          </a:xfrm>
        </p:spPr>
        <p:txBody>
          <a:bodyPr/>
          <a:lstStyle/>
          <a:p>
            <a:r>
              <a:rPr lang="en-US" altLang="ko-KR" cap="all"/>
              <a:t>USE CASE DIAGRAM    ELEMENTS: OTHERS</a:t>
            </a:r>
            <a:br>
              <a:rPr lang="en-US" altLang="ko-KR" cap="all"/>
            </a:br>
            <a:endParaRPr lang="en-US" altLang="ko-KR" cap="al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873" y="1343510"/>
            <a:ext cx="6559575" cy="3532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60432" y="2235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8</a:t>
            </a:fld>
            <a:r>
              <a:rPr lang="en-MY" sz="1400" b="1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33242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03648" y="391140"/>
            <a:ext cx="7740352" cy="884466"/>
          </a:xfrm>
        </p:spPr>
        <p:txBody>
          <a:bodyPr/>
          <a:lstStyle/>
          <a:p>
            <a:r>
              <a:rPr lang="en-US" altLang="ko-KR" cap="all"/>
              <a:t>USE CASE DIAGRAM    ELEMENTS: USE CASE</a:t>
            </a:r>
            <a:br>
              <a:rPr lang="en-US" altLang="ko-KR" cap="all"/>
            </a:br>
            <a:endParaRPr lang="en-US" altLang="ko-KR" cap="all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81246" y="1131590"/>
            <a:ext cx="7111234" cy="4104456"/>
          </a:xfrm>
        </p:spPr>
        <p:txBody>
          <a:bodyPr anchor="t" anchorCtr="0"/>
          <a:lstStyle/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System function (process – automated or manual). Named by verb. 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Each Actor </a:t>
            </a:r>
            <a:r>
              <a:rPr lang="en-US" altLang="ko-KR" u="sng"/>
              <a:t>must be linked</a:t>
            </a:r>
            <a:r>
              <a:rPr lang="en-US" altLang="ko-KR"/>
              <a:t> to a use                                                                      case, while some use cases </a:t>
            </a:r>
            <a:r>
              <a:rPr lang="en-US" altLang="ko-KR" u="sng"/>
              <a:t>may not</a:t>
            </a:r>
            <a:r>
              <a:rPr lang="en-US" altLang="ko-KR"/>
              <a:t> be                                  linked to actors.</a:t>
            </a:r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771800" y="2715766"/>
            <a:ext cx="5616624" cy="2141984"/>
            <a:chOff x="1056" y="2640"/>
            <a:chExt cx="4560" cy="1440"/>
          </a:xfrm>
        </p:grpSpPr>
        <p:pic>
          <p:nvPicPr>
            <p:cNvPr id="7" name="Picture 20" descr="Fi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56" y="2640"/>
              <a:ext cx="4560" cy="1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22"/>
            <p:cNvSpPr txBox="1">
              <a:spLocks noChangeArrowheads="1"/>
            </p:cNvSpPr>
            <p:nvPr/>
          </p:nvSpPr>
          <p:spPr bwMode="auto">
            <a:xfrm>
              <a:off x="4032" y="2640"/>
              <a:ext cx="83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/>
                <a:t>= Use Case</a:t>
              </a:r>
              <a:endParaRPr lang="es-ES" sz="1600" b="1"/>
            </a:p>
          </p:txBody>
        </p:sp>
      </p:grpSp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6866228" y="1546994"/>
            <a:ext cx="1778496" cy="55207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Do something</a:t>
            </a:r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8460432" y="22350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9</a:t>
            </a:fld>
            <a:r>
              <a:rPr lang="en-MY" sz="1400" b="1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79965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03648" y="391140"/>
            <a:ext cx="7740352" cy="884466"/>
          </a:xfrm>
        </p:spPr>
        <p:txBody>
          <a:bodyPr/>
          <a:lstStyle/>
          <a:p>
            <a:r>
              <a:rPr lang="en-US" altLang="ko-KR" cap="all"/>
              <a:t>INCLUDE RELATIONSHIP</a:t>
            </a:r>
            <a:br>
              <a:rPr lang="en-US" altLang="ko-KR" cap="all"/>
            </a:br>
            <a:endParaRPr lang="en-US" altLang="ko-KR" cap="all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81246" y="1131590"/>
            <a:ext cx="7111234" cy="4104456"/>
          </a:xfrm>
        </p:spPr>
        <p:txBody>
          <a:bodyPr anchor="t" anchorCtr="0"/>
          <a:lstStyle/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800"/>
              <a:t>A standard association that linked to a </a:t>
            </a:r>
            <a:r>
              <a:rPr lang="en-US" altLang="ko-KR" sz="1800" b="1"/>
              <a:t>mandatory</a:t>
            </a:r>
            <a:r>
              <a:rPr lang="en-US" altLang="ko-KR" sz="1800"/>
              <a:t> use case </a:t>
            </a:r>
          </a:p>
          <a:p>
            <a:pPr marL="1200150" lvl="1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600"/>
              <a:t>Example: to Authorize Car Loan (standard use case), a clerk must run Check Client’s Credit History (include use case).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800"/>
              <a:t>The standard UC includes the mandatory UC (use the verb to figure direction arrow).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800"/>
              <a:t>Standard use case can                                                          NOT execute without the                                                    include case → tight coupling</a:t>
            </a:r>
          </a:p>
          <a:p>
            <a:pPr marL="1200150" lvl="1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600"/>
              <a:t>Note: UML Version                                                            1 calls this “uses”                                           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0432" y="22350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10</a:t>
            </a:fld>
            <a:r>
              <a:rPr lang="en-MY" sz="1400" b="1"/>
              <a:t>/14</a:t>
            </a:r>
          </a:p>
        </p:txBody>
      </p:sp>
      <p:pic>
        <p:nvPicPr>
          <p:cNvPr id="5" name="Picture 10" descr="useCaseReus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2330979"/>
            <a:ext cx="3996970" cy="283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6153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03648" y="391140"/>
            <a:ext cx="7740352" cy="884466"/>
          </a:xfrm>
        </p:spPr>
        <p:txBody>
          <a:bodyPr/>
          <a:lstStyle/>
          <a:p>
            <a:r>
              <a:rPr lang="en-US" altLang="ko-KR" cap="all"/>
              <a:t>EXTEND RELATIONSHIP</a:t>
            </a:r>
            <a:br>
              <a:rPr lang="en-US" altLang="ko-KR" cap="all"/>
            </a:br>
            <a:endParaRPr lang="en-US" altLang="ko-KR" cap="all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81246" y="1131590"/>
            <a:ext cx="7111234" cy="4104456"/>
          </a:xfrm>
        </p:spPr>
        <p:txBody>
          <a:bodyPr anchor="t" anchorCtr="0"/>
          <a:lstStyle/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800"/>
              <a:t>An association that links an </a:t>
            </a:r>
            <a:r>
              <a:rPr lang="en-US" altLang="ko-KR" sz="1800" b="1"/>
              <a:t>optional</a:t>
            </a:r>
            <a:r>
              <a:rPr lang="en-US" altLang="ko-KR" sz="1800"/>
              <a:t> use case to a standard use case.</a:t>
            </a:r>
          </a:p>
          <a:p>
            <a:pPr marL="1200150" lvl="1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600"/>
              <a:t>Example: Register Course (standard use case) may have Register for Special Class (extend use case) – class for non-standard students, in                                            unusual time, with                                                special topics,                                                   requiring extra fees…)</a:t>
            </a:r>
          </a:p>
          <a:p>
            <a:pPr marL="45720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800"/>
              <a:t>The optional UC extends the                                                      standard UC 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800"/>
              <a:t>Standard use case can                                                     execute without the extend                                                    case → loose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0432" y="22350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11</a:t>
            </a:fld>
            <a:r>
              <a:rPr lang="en-MY" sz="1400" b="1"/>
              <a:t>/14</a:t>
            </a:r>
          </a:p>
        </p:txBody>
      </p:sp>
      <p:pic>
        <p:nvPicPr>
          <p:cNvPr id="5" name="Picture 10" descr="useCaseReus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2330979"/>
            <a:ext cx="3996970" cy="283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7601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03648" y="391140"/>
            <a:ext cx="7740352" cy="884466"/>
          </a:xfrm>
        </p:spPr>
        <p:txBody>
          <a:bodyPr/>
          <a:lstStyle/>
          <a:p>
            <a:r>
              <a:rPr lang="en-US" altLang="ko-KR" cap="all"/>
              <a:t>HOW TO CREATE USE CASE DIAGRAM</a:t>
            </a:r>
            <a:br>
              <a:rPr lang="en-US" altLang="ko-KR" cap="all"/>
            </a:br>
            <a:endParaRPr lang="en-US" altLang="ko-KR" cap="all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81246" y="1131590"/>
            <a:ext cx="7111234" cy="4104456"/>
          </a:xfrm>
        </p:spPr>
        <p:txBody>
          <a:bodyPr anchor="t" anchorCtr="0"/>
          <a:lstStyle/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List all possible actors</a:t>
            </a:r>
          </a:p>
          <a:p>
            <a:pPr marL="1200150" lvl="1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600"/>
              <a:t>Think of humans, machines, external systems, devices, sensors, organization unit,…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List main system functions (use cases)</a:t>
            </a:r>
          </a:p>
          <a:p>
            <a:pPr marL="1200150" lvl="1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600"/>
              <a:t>Think of business events demanding system’s response users’ goals/needs to be accomplished via the system</a:t>
            </a:r>
          </a:p>
          <a:p>
            <a:pPr marL="1200150" lvl="1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 sz="1600"/>
              <a:t>Create, Read, Update, Delete (CRUD) data tasks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Draw ovals around the function labels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Draw system boundary 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Draw actors and connect them with use cases</a:t>
            </a:r>
          </a:p>
          <a:p>
            <a:pPr marL="457200" lvl="0" indent="-4572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altLang="ko-KR"/>
              <a:t>Specify include and extend relationships between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0432" y="22350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12</a:t>
            </a:fld>
            <a:r>
              <a:rPr lang="en-MY" sz="1400" b="1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98100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03648" y="391140"/>
            <a:ext cx="7740352" cy="884466"/>
          </a:xfrm>
        </p:spPr>
        <p:txBody>
          <a:bodyPr/>
          <a:lstStyle/>
          <a:p>
            <a:r>
              <a:rPr lang="en-US" altLang="ko-KR" cap="all"/>
              <a:t>LAB’S CASE STUDY</a:t>
            </a:r>
            <a:br>
              <a:rPr lang="en-US" altLang="ko-KR" cap="all"/>
            </a:br>
            <a:endParaRPr lang="en-US" altLang="ko-KR" cap="all"/>
          </a:p>
        </p:txBody>
      </p:sp>
      <p:sp>
        <p:nvSpPr>
          <p:cNvPr id="4" name="TextBox 3"/>
          <p:cNvSpPr txBox="1"/>
          <p:nvPr/>
        </p:nvSpPr>
        <p:spPr>
          <a:xfrm>
            <a:off x="8460432" y="22350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50F85B-4A63-4FAE-8125-C635F2EFFC35}" type="slidenum">
              <a:rPr lang="en-MY" sz="1400" b="1" smtClean="0"/>
              <a:t>13</a:t>
            </a:fld>
            <a:r>
              <a:rPr lang="en-MY" sz="1400" b="1"/>
              <a:t>/14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059832" y="1275606"/>
            <a:ext cx="4176464" cy="3168352"/>
            <a:chOff x="3131840" y="1275606"/>
            <a:chExt cx="4176464" cy="316835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840" y="1275606"/>
              <a:ext cx="1800200" cy="316835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8104" y="1290301"/>
              <a:ext cx="1800200" cy="3147042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892" y="1290301"/>
            <a:ext cx="1768284" cy="312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4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254608" y="342404"/>
            <a:ext cx="849385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b="1">
                <a:solidFill>
                  <a:schemeClr val="tx2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THANK YOU…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083918"/>
            <a:ext cx="2122880" cy="91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3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Custom Design</vt:lpstr>
      <vt:lpstr>PowerPoint Presentation</vt:lpstr>
      <vt:lpstr>WHERE WERE WE?</vt:lpstr>
      <vt:lpstr>FUNCTIONAL REQUIREMENTS    &amp; USE CASES</vt:lpstr>
      <vt:lpstr>USE CASE DIAGRAM</vt:lpstr>
      <vt:lpstr>USE CASE DIAGRAM &amp;       SYSTEM DOCUMENTATION </vt:lpstr>
      <vt:lpstr>USE CASE DIAGRAM ELEMENTS</vt:lpstr>
      <vt:lpstr>USE CASE DIAGRAM     ELEMENTS: ACTOR </vt:lpstr>
      <vt:lpstr>USE CASE DIAGRAM    ELEMENTS: OTHERS </vt:lpstr>
      <vt:lpstr>USE CASE DIAGRAM    ELEMENTS: USE CASE </vt:lpstr>
      <vt:lpstr>INCLUDE RELATIONSHIP </vt:lpstr>
      <vt:lpstr>EXTEND RELATIONSHIP </vt:lpstr>
      <vt:lpstr>HOW TO CREATE USE CASE DIAGRAM </vt:lpstr>
      <vt:lpstr>LAB’S CASE STUDY 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revision>4</cp:revision>
  <dcterms:created xsi:type="dcterms:W3CDTF">2014-04-01T16:27:38Z</dcterms:created>
  <dcterms:modified xsi:type="dcterms:W3CDTF">2025-07-11T10:03:20Z</dcterms:modified>
</cp:coreProperties>
</file>